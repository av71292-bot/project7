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65" r:id="rId2"/>
    <p:sldId id="310" r:id="rId3"/>
    <p:sldId id="317" r:id="rId4"/>
    <p:sldId id="318" r:id="rId5"/>
    <p:sldId id="319" r:id="rId6"/>
    <p:sldId id="320" r:id="rId7"/>
    <p:sldId id="321" r:id="rId8"/>
    <p:sldId id="322" r:id="rId9"/>
    <p:sldId id="323" r:id="rId10"/>
    <p:sldId id="324" r:id="rId11"/>
    <p:sldId id="325" r:id="rId12"/>
    <p:sldId id="326" r:id="rId13"/>
    <p:sldId id="327" r:id="rId14"/>
  </p:sldIdLst>
  <p:sldSz cx="12188825"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29" autoAdjust="0"/>
  </p:normalViewPr>
  <p:slideViewPr>
    <p:cSldViewPr showGuides="1">
      <p:cViewPr varScale="1">
        <p:scale>
          <a:sx n="80" d="100"/>
          <a:sy n="80" d="100"/>
        </p:scale>
        <p:origin x="86" y="398"/>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10/15/2026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10/15/2026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10/15/2026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10/15/2026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10/15/2026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10/15/2026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10/15/2026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10/15/2026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10/15/2026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10/15/2026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10/15/2026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10/15/2026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10/15/2026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Title Layout</a:t>
            </a:r>
          </a:p>
        </p:txBody>
      </p:sp>
      <p:sp>
        <p:nvSpPr>
          <p:cNvPr id="4" name="Subtitle 3"/>
          <p:cNvSpPr>
            <a:spLocks noGrp="1"/>
          </p:cNvSpPr>
          <p:nvPr>
            <p:ph type="subTitle" idx="1"/>
          </p:nvPr>
        </p:nvSpPr>
        <p:spPr/>
        <p:txBody>
          <a:bodyPr/>
          <a:lstStyle/>
          <a:p>
            <a:r>
              <a:rPr lang="it-IT" dirty="0"/>
              <a:t>Subtitle</a:t>
            </a:r>
          </a:p>
        </p:txBody>
      </p:sp>
      <p:pic>
        <p:nvPicPr>
          <p:cNvPr id="5" name="Picture 4" descr="The image depicts a presentation slide for an NLP (Natural Language Processing) project aimed at real-time disaster classification, featuring a multilingual emergency alert and social media sensing system, presented by Ankita Vaghela, highlighting her expertise in Data Science and Artificial Intelligence.&#10;&#10;AI-generated content may be incorrect.">
            <a:extLst>
              <a:ext uri="{FF2B5EF4-FFF2-40B4-BE49-F238E27FC236}">
                <a16:creationId xmlns:a16="http://schemas.microsoft.com/office/drawing/2014/main" id="{7624353A-3367-72A3-CA59-74931A99CB3D}"/>
              </a:ext>
            </a:extLst>
          </p:cNvPr>
          <p:cNvPicPr>
            <a:picLocks noChangeAspect="1"/>
          </p:cNvPicPr>
          <p:nvPr/>
        </p:nvPicPr>
        <p:blipFill>
          <a:blip r:embed="rId2"/>
          <a:stretch>
            <a:fillRect/>
          </a:stretch>
        </p:blipFill>
        <p:spPr>
          <a:xfrm>
            <a:off x="-1" y="0"/>
            <a:ext cx="12188825" cy="6858000"/>
          </a:xfrm>
          <a:prstGeom prst="rect">
            <a:avLst/>
          </a:prstGeom>
        </p:spPr>
      </p:pic>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a project summary, highlighting the challenge of processing high-volume social media streams for emergency situations, and the solution includes a fine-tuned Transformer NLP model for real-time classification and multilingual translation, integrated with hands-free voice input.">
            <a:extLst>
              <a:ext uri="{FF2B5EF4-FFF2-40B4-BE49-F238E27FC236}">
                <a16:creationId xmlns:a16="http://schemas.microsoft.com/office/drawing/2014/main" id="{A9B9E315-B391-920C-4161-332BFF09F9CA}"/>
              </a:ext>
            </a:extLst>
          </p:cNvPr>
          <p:cNvPicPr>
            <a:picLocks noChangeAspect="1"/>
          </p:cNvPicPr>
          <p:nvPr/>
        </p:nvPicPr>
        <p:blipFill>
          <a:blip r:embed="rId2"/>
          <a:stretch>
            <a:fillRect/>
          </a:stretch>
        </p:blipFill>
        <p:spPr>
          <a:xfrm>
            <a:off x="-1" y="-926"/>
            <a:ext cx="12188825" cy="6858926"/>
          </a:xfrm>
          <a:prstGeom prst="rect">
            <a:avLst/>
          </a:prstGeom>
        </p:spPr>
      </p:pic>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balanced distribution of 4,342 data points, split evenly into 3,271 non-disaster and 3,071 disaster instances for data analysis.">
            <a:extLst>
              <a:ext uri="{FF2B5EF4-FFF2-40B4-BE49-F238E27FC236}">
                <a16:creationId xmlns:a16="http://schemas.microsoft.com/office/drawing/2014/main" id="{6654456D-3F0D-AFEE-F587-0F526350974C}"/>
              </a:ext>
            </a:extLst>
          </p:cNvPr>
          <p:cNvPicPr>
            <a:picLocks noChangeAspect="1"/>
          </p:cNvPicPr>
          <p:nvPr/>
        </p:nvPicPr>
        <p:blipFill>
          <a:blip r:embed="rId2"/>
          <a:stretch>
            <a:fillRect/>
          </a:stretch>
        </p:blipFill>
        <p:spPr>
          <a:xfrm>
            <a:off x="0" y="12576"/>
            <a:ext cx="12188825" cy="6845424"/>
          </a:xfrm>
          <a:prstGeom prst="rect">
            <a:avLst/>
          </a:prstGeom>
        </p:spPr>
      </p:pic>
    </p:spTree>
    <p:extLst>
      <p:ext uri="{BB962C8B-B14F-4D97-AF65-F5344CB8AC3E}">
        <p14:creationId xmlns:p14="http://schemas.microsoft.com/office/powerpoint/2010/main" val="173572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C2EA7-6EEC-9B27-F550-4D725575B4CA}"/>
            </a:ext>
          </a:extLst>
        </p:cNvPr>
        <p:cNvGrpSpPr/>
        <p:nvPr/>
      </p:nvGrpSpPr>
      <p:grpSpPr>
        <a:xfrm>
          <a:off x="0" y="0"/>
          <a:ext cx="0" cy="0"/>
          <a:chOff x="0" y="0"/>
          <a:chExt cx="0" cy="0"/>
        </a:xfrm>
      </p:grpSpPr>
      <p:pic>
        <p:nvPicPr>
          <p:cNvPr id="3" name="Picture 2" descr="The image is a visual representation of keyword frequency distribution, comparing terms most associated with disaster tweets to those in non-disaster tweets, highlighting keywords like 'fire', 'like', and 'news'.">
            <a:extLst>
              <a:ext uri="{FF2B5EF4-FFF2-40B4-BE49-F238E27FC236}">
                <a16:creationId xmlns:a16="http://schemas.microsoft.com/office/drawing/2014/main" id="{DFD5060F-1AE9-1DC1-20AC-CD123EFBCBC9}"/>
              </a:ext>
            </a:extLst>
          </p:cNvPr>
          <p:cNvPicPr>
            <a:picLocks noChangeAspect="1"/>
          </p:cNvPicPr>
          <p:nvPr/>
        </p:nvPicPr>
        <p:blipFill>
          <a:blip r:embed="rId2"/>
          <a:stretch>
            <a:fillRect/>
          </a:stretch>
        </p:blipFill>
        <p:spPr>
          <a:xfrm>
            <a:off x="0" y="0"/>
            <a:ext cx="12188825" cy="6858000"/>
          </a:xfrm>
          <a:prstGeom prst="rect">
            <a:avLst/>
          </a:prstGeom>
        </p:spPr>
      </p:pic>
    </p:spTree>
    <p:extLst>
      <p:ext uri="{BB962C8B-B14F-4D97-AF65-F5344CB8AC3E}">
        <p14:creationId xmlns:p14="http://schemas.microsoft.com/office/powerpoint/2010/main" val="170119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AC2B-E5D9-1AD2-F56E-D00F6FFDFE60}"/>
            </a:ext>
          </a:extLst>
        </p:cNvPr>
        <p:cNvGrpSpPr/>
        <p:nvPr/>
      </p:nvGrpSpPr>
      <p:grpSpPr>
        <a:xfrm>
          <a:off x="0" y="0"/>
          <a:ext cx="0" cy="0"/>
          <a:chOff x="0" y="0"/>
          <a:chExt cx="0" cy="0"/>
        </a:xfrm>
      </p:grpSpPr>
      <p:pic>
        <p:nvPicPr>
          <p:cNvPr id="3" name="Picture 2" descr="The image illustrates an end-to-end system architecture for a voice recognition and translation platform, detailing user input, translation API, classifier engine, and alert dashboard stages.">
            <a:extLst>
              <a:ext uri="{FF2B5EF4-FFF2-40B4-BE49-F238E27FC236}">
                <a16:creationId xmlns:a16="http://schemas.microsoft.com/office/drawing/2014/main" id="{3731105B-A9C3-BDE4-A325-9CA92C1E15C1}"/>
              </a:ext>
            </a:extLst>
          </p:cNvPr>
          <p:cNvPicPr>
            <a:picLocks noChangeAspect="1"/>
          </p:cNvPicPr>
          <p:nvPr/>
        </p:nvPicPr>
        <p:blipFill>
          <a:blip r:embed="rId2"/>
          <a:stretch>
            <a:fillRect/>
          </a:stretch>
        </p:blipFill>
        <p:spPr>
          <a:xfrm>
            <a:off x="-1" y="2678"/>
            <a:ext cx="12188825" cy="6855321"/>
          </a:xfrm>
          <a:prstGeom prst="rect">
            <a:avLst/>
          </a:prstGeom>
        </p:spPr>
      </p:pic>
    </p:spTree>
    <p:extLst>
      <p:ext uri="{BB962C8B-B14F-4D97-AF65-F5344CB8AC3E}">
        <p14:creationId xmlns:p14="http://schemas.microsoft.com/office/powerpoint/2010/main" val="300077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AF8BA-1560-ABAA-80B3-6DB3B351782B}"/>
            </a:ext>
          </a:extLst>
        </p:cNvPr>
        <p:cNvGrpSpPr/>
        <p:nvPr/>
      </p:nvGrpSpPr>
      <p:grpSpPr>
        <a:xfrm>
          <a:off x="0" y="0"/>
          <a:ext cx="0" cy="0"/>
          <a:chOff x="0" y="0"/>
          <a:chExt cx="0" cy="0"/>
        </a:xfrm>
      </p:grpSpPr>
      <p:pic>
        <p:nvPicPr>
          <p:cNvPr id="3" name="Picture 2" descr="The image displays a multilingual translation interface, featuring language options such as English, Hindi, and Gujarati, with features like real-time dialect parsing and seamless API conversion.">
            <a:extLst>
              <a:ext uri="{FF2B5EF4-FFF2-40B4-BE49-F238E27FC236}">
                <a16:creationId xmlns:a16="http://schemas.microsoft.com/office/drawing/2014/main" id="{DC1ABA28-F81A-FA82-EEB3-105AA295F828}"/>
              </a:ext>
            </a:extLst>
          </p:cNvPr>
          <p:cNvPicPr>
            <a:picLocks noChangeAspect="1"/>
          </p:cNvPicPr>
          <p:nvPr/>
        </p:nvPicPr>
        <p:blipFill>
          <a:blip r:embed="rId2"/>
          <a:stretch>
            <a:fillRect/>
          </a:stretch>
        </p:blipFill>
        <p:spPr>
          <a:xfrm>
            <a:off x="-1" y="2654"/>
            <a:ext cx="12188825" cy="6855346"/>
          </a:xfrm>
          <a:prstGeom prst="rect">
            <a:avLst/>
          </a:prstGeom>
        </p:spPr>
      </p:pic>
    </p:spTree>
    <p:extLst>
      <p:ext uri="{BB962C8B-B14F-4D97-AF65-F5344CB8AC3E}">
        <p14:creationId xmlns:p14="http://schemas.microsoft.com/office/powerpoint/2010/main" val="1289112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C3655-AF36-1389-6EE9-CB33AE8D7BA4}"/>
            </a:ext>
          </a:extLst>
        </p:cNvPr>
        <p:cNvGrpSpPr/>
        <p:nvPr/>
      </p:nvGrpSpPr>
      <p:grpSpPr>
        <a:xfrm>
          <a:off x="0" y="0"/>
          <a:ext cx="0" cy="0"/>
          <a:chOff x="0" y="0"/>
          <a:chExt cx="0" cy="0"/>
        </a:xfrm>
      </p:grpSpPr>
      <p:pic>
        <p:nvPicPr>
          <p:cNvPr id="3" name="Picture 2" descr="The image displays a speech-to-text voice module with various features such as hands-free reporting, rapid input for panic situations, integrated streamlit mic recorder, automatic text area population, and native browser mic access.">
            <a:extLst>
              <a:ext uri="{FF2B5EF4-FFF2-40B4-BE49-F238E27FC236}">
                <a16:creationId xmlns:a16="http://schemas.microsoft.com/office/drawing/2014/main" id="{06232E4B-0FA0-18CB-10DF-62CEE7B3D22B}"/>
              </a:ext>
            </a:extLst>
          </p:cNvPr>
          <p:cNvPicPr>
            <a:picLocks noChangeAspect="1"/>
          </p:cNvPicPr>
          <p:nvPr/>
        </p:nvPicPr>
        <p:blipFill>
          <a:blip r:embed="rId2"/>
          <a:stretch>
            <a:fillRect/>
          </a:stretch>
        </p:blipFill>
        <p:spPr>
          <a:xfrm>
            <a:off x="0" y="0"/>
            <a:ext cx="12188825" cy="6858000"/>
          </a:xfrm>
          <a:prstGeom prst="rect">
            <a:avLst/>
          </a:prstGeom>
        </p:spPr>
      </p:pic>
    </p:spTree>
    <p:extLst>
      <p:ext uri="{BB962C8B-B14F-4D97-AF65-F5344CB8AC3E}">
        <p14:creationId xmlns:p14="http://schemas.microsoft.com/office/powerpoint/2010/main" val="229120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8AAF-384C-D11E-5E33-C36DA258BCE3}"/>
            </a:ext>
          </a:extLst>
        </p:cNvPr>
        <p:cNvGrpSpPr/>
        <p:nvPr/>
      </p:nvGrpSpPr>
      <p:grpSpPr>
        <a:xfrm>
          <a:off x="0" y="0"/>
          <a:ext cx="0" cy="0"/>
          <a:chOff x="0" y="0"/>
          <a:chExt cx="0" cy="0"/>
        </a:xfrm>
      </p:grpSpPr>
      <p:pic>
        <p:nvPicPr>
          <p:cNvPr id="3" name="Picture 2" descr="The image displays a comparison table summarizing the performance metrics of different machine learning models, including accuracy, precision, recall, and F1-Score.">
            <a:extLst>
              <a:ext uri="{FF2B5EF4-FFF2-40B4-BE49-F238E27FC236}">
                <a16:creationId xmlns:a16="http://schemas.microsoft.com/office/drawing/2014/main" id="{127E2221-138D-8DE4-65A2-D901BCA26EBA}"/>
              </a:ext>
            </a:extLst>
          </p:cNvPr>
          <p:cNvPicPr>
            <a:picLocks noChangeAspect="1"/>
          </p:cNvPicPr>
          <p:nvPr/>
        </p:nvPicPr>
        <p:blipFill>
          <a:blip r:embed="rId2"/>
          <a:stretch>
            <a:fillRect/>
          </a:stretch>
        </p:blipFill>
        <p:spPr>
          <a:xfrm>
            <a:off x="0" y="0"/>
            <a:ext cx="12188825" cy="6858000"/>
          </a:xfrm>
          <a:prstGeom prst="rect">
            <a:avLst/>
          </a:prstGeom>
        </p:spPr>
      </p:pic>
    </p:spTree>
    <p:extLst>
      <p:ext uri="{BB962C8B-B14F-4D97-AF65-F5344CB8AC3E}">
        <p14:creationId xmlns:p14="http://schemas.microsoft.com/office/powerpoint/2010/main" val="180021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A71E-9AE0-F8F1-8573-E7DAED34B551}"/>
            </a:ext>
          </a:extLst>
        </p:cNvPr>
        <p:cNvGrpSpPr/>
        <p:nvPr/>
      </p:nvGrpSpPr>
      <p:grpSpPr>
        <a:xfrm>
          <a:off x="0" y="0"/>
          <a:ext cx="0" cy="0"/>
          <a:chOff x="0" y="0"/>
          <a:chExt cx="0" cy="0"/>
        </a:xfrm>
      </p:grpSpPr>
      <p:pic>
        <p:nvPicPr>
          <p:cNvPr id="3" name="Picture 2" descr="The image displays a bar chart comparing the performance scores of different trained machine learning models, including Naive Bayes, Neural Net, Logistic Regression, Random Forest, XGBoost, and BERT Base.">
            <a:extLst>
              <a:ext uri="{FF2B5EF4-FFF2-40B4-BE49-F238E27FC236}">
                <a16:creationId xmlns:a16="http://schemas.microsoft.com/office/drawing/2014/main" id="{AC495480-A9DF-1B21-2578-F4B9861E0BB8}"/>
              </a:ext>
            </a:extLst>
          </p:cNvPr>
          <p:cNvPicPr>
            <a:picLocks noChangeAspect="1"/>
          </p:cNvPicPr>
          <p:nvPr/>
        </p:nvPicPr>
        <p:blipFill>
          <a:blip r:embed="rId2"/>
          <a:stretch>
            <a:fillRect/>
          </a:stretch>
        </p:blipFill>
        <p:spPr>
          <a:xfrm>
            <a:off x="0" y="0"/>
            <a:ext cx="12188825" cy="6858000"/>
          </a:xfrm>
          <a:prstGeom prst="rect">
            <a:avLst/>
          </a:prstGeom>
        </p:spPr>
      </p:pic>
    </p:spTree>
    <p:extLst>
      <p:ext uri="{BB962C8B-B14F-4D97-AF65-F5344CB8AC3E}">
        <p14:creationId xmlns:p14="http://schemas.microsoft.com/office/powerpoint/2010/main" val="3455539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751E6-C63C-B12F-C05C-7B3BB9F79B39}"/>
            </a:ext>
          </a:extLst>
        </p:cNvPr>
        <p:cNvGrpSpPr/>
        <p:nvPr/>
      </p:nvGrpSpPr>
      <p:grpSpPr>
        <a:xfrm>
          <a:off x="0" y="0"/>
          <a:ext cx="0" cy="0"/>
          <a:chOff x="0" y="0"/>
          <a:chExt cx="0" cy="0"/>
        </a:xfrm>
      </p:grpSpPr>
      <p:pic>
        <p:nvPicPr>
          <p:cNvPr id="3" name="Picture 2" descr="The diagram illustrates the pros and cons of Naive Bayes and BERT for text classification, highlighting Naive Bayes' high accuracy and low latency, but also noting BERT's higher computational cost and heavier footprint.">
            <a:extLst>
              <a:ext uri="{FF2B5EF4-FFF2-40B4-BE49-F238E27FC236}">
                <a16:creationId xmlns:a16="http://schemas.microsoft.com/office/drawing/2014/main" id="{D3FA92D6-EC8D-B8F8-2BFC-AEE6B77AA61D}"/>
              </a:ext>
            </a:extLst>
          </p:cNvPr>
          <p:cNvPicPr>
            <a:picLocks noChangeAspect="1"/>
          </p:cNvPicPr>
          <p:nvPr/>
        </p:nvPicPr>
        <p:blipFill>
          <a:blip r:embed="rId2"/>
          <a:stretch>
            <a:fillRect/>
          </a:stretch>
        </p:blipFill>
        <p:spPr>
          <a:xfrm>
            <a:off x="-1" y="0"/>
            <a:ext cx="12188825" cy="6858000"/>
          </a:xfrm>
          <a:prstGeom prst="rect">
            <a:avLst/>
          </a:prstGeom>
        </p:spPr>
      </p:pic>
    </p:spTree>
    <p:extLst>
      <p:ext uri="{BB962C8B-B14F-4D97-AF65-F5344CB8AC3E}">
        <p14:creationId xmlns:p14="http://schemas.microsoft.com/office/powerpoint/2010/main" val="422494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48981-3AE5-F57D-D003-0CD0D52E2740}"/>
            </a:ext>
          </a:extLst>
        </p:cNvPr>
        <p:cNvGrpSpPr/>
        <p:nvPr/>
      </p:nvGrpSpPr>
      <p:grpSpPr>
        <a:xfrm>
          <a:off x="0" y="0"/>
          <a:ext cx="0" cy="0"/>
          <a:chOff x="0" y="0"/>
          <a:chExt cx="0" cy="0"/>
        </a:xfrm>
      </p:grpSpPr>
      <p:pic>
        <p:nvPicPr>
          <p:cNvPr id="3" name="Picture 2" descr="The image illustrates a project roadmap for deployment architecture, including features like continuous code tracking, live streaming, disaster mapping, speech parsing, and emergency SMS integration.">
            <a:extLst>
              <a:ext uri="{FF2B5EF4-FFF2-40B4-BE49-F238E27FC236}">
                <a16:creationId xmlns:a16="http://schemas.microsoft.com/office/drawing/2014/main" id="{BCFB9433-9952-C871-3030-B5080663FA27}"/>
              </a:ext>
            </a:extLst>
          </p:cNvPr>
          <p:cNvPicPr>
            <a:picLocks noChangeAspect="1"/>
          </p:cNvPicPr>
          <p:nvPr/>
        </p:nvPicPr>
        <p:blipFill>
          <a:blip r:embed="rId2"/>
          <a:stretch>
            <a:fillRect/>
          </a:stretch>
        </p:blipFill>
        <p:spPr>
          <a:xfrm>
            <a:off x="0" y="0"/>
            <a:ext cx="12188825" cy="6858000"/>
          </a:xfrm>
          <a:prstGeom prst="rect">
            <a:avLst/>
          </a:prstGeom>
        </p:spPr>
      </p:pic>
    </p:spTree>
    <p:extLst>
      <p:ext uri="{BB962C8B-B14F-4D97-AF65-F5344CB8AC3E}">
        <p14:creationId xmlns:p14="http://schemas.microsoft.com/office/powerpoint/2010/main" val="3161099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86EC-FDA3-4D39-94B8-2B7978F5B870}"/>
            </a:ext>
          </a:extLst>
        </p:cNvPr>
        <p:cNvGrpSpPr/>
        <p:nvPr/>
      </p:nvGrpSpPr>
      <p:grpSpPr>
        <a:xfrm>
          <a:off x="0" y="0"/>
          <a:ext cx="0" cy="0"/>
          <a:chOff x="0" y="0"/>
          <a:chExt cx="0" cy="0"/>
        </a:xfrm>
      </p:grpSpPr>
      <p:pic>
        <p:nvPicPr>
          <p:cNvPr id="3" name="Picture 2" descr="Real-Time Disaster Tweet Classifier&#10;&#10;AI-generated content may be incorrect.">
            <a:extLst>
              <a:ext uri="{FF2B5EF4-FFF2-40B4-BE49-F238E27FC236}">
                <a16:creationId xmlns:a16="http://schemas.microsoft.com/office/drawing/2014/main" id="{A89343DB-B8C1-FAD4-AD43-CBC738313154}"/>
              </a:ext>
            </a:extLst>
          </p:cNvPr>
          <p:cNvPicPr>
            <a:picLocks noChangeAspect="1"/>
          </p:cNvPicPr>
          <p:nvPr/>
        </p:nvPicPr>
        <p:blipFill>
          <a:blip r:embed="rId2"/>
          <a:stretch>
            <a:fillRect/>
          </a:stretch>
        </p:blipFill>
        <p:spPr>
          <a:xfrm>
            <a:off x="-1" y="0"/>
            <a:ext cx="12188825" cy="6858000"/>
          </a:xfrm>
          <a:prstGeom prst="rect">
            <a:avLst/>
          </a:prstGeom>
        </p:spPr>
      </p:pic>
    </p:spTree>
    <p:extLst>
      <p:ext uri="{BB962C8B-B14F-4D97-AF65-F5344CB8AC3E}">
        <p14:creationId xmlns:p14="http://schemas.microsoft.com/office/powerpoint/2010/main" val="222774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89042-69B4-D16A-0BAC-77961215A2BF}"/>
            </a:ext>
          </a:extLst>
        </p:cNvPr>
        <p:cNvGrpSpPr/>
        <p:nvPr/>
      </p:nvGrpSpPr>
      <p:grpSpPr>
        <a:xfrm>
          <a:off x="0" y="0"/>
          <a:ext cx="0" cy="0"/>
          <a:chOff x="0" y="0"/>
          <a:chExt cx="0" cy="0"/>
        </a:xfrm>
      </p:grpSpPr>
      <p:pic>
        <p:nvPicPr>
          <p:cNvPr id="3" name="Picture 2" descr="The image displays a dark background with a thank you message and a title for a Natural Language Processing (NLP) project focused on real-time disaster tweet classification, along with a section for questions and discussions.">
            <a:extLst>
              <a:ext uri="{FF2B5EF4-FFF2-40B4-BE49-F238E27FC236}">
                <a16:creationId xmlns:a16="http://schemas.microsoft.com/office/drawing/2014/main" id="{1B47661F-C2F3-242D-219D-B563DC829F8D}"/>
              </a:ext>
            </a:extLst>
          </p:cNvPr>
          <p:cNvPicPr>
            <a:picLocks noChangeAspect="1"/>
          </p:cNvPicPr>
          <p:nvPr/>
        </p:nvPicPr>
        <p:blipFill>
          <a:blip r:embed="rId2"/>
          <a:stretch>
            <a:fillRect/>
          </a:stretch>
        </p:blipFill>
        <p:spPr>
          <a:xfrm>
            <a:off x="-1" y="0"/>
            <a:ext cx="12188825" cy="6858000"/>
          </a:xfrm>
          <a:prstGeom prst="rect">
            <a:avLst/>
          </a:prstGeom>
        </p:spPr>
      </p:pic>
    </p:spTree>
    <p:extLst>
      <p:ext uri="{BB962C8B-B14F-4D97-AF65-F5344CB8AC3E}">
        <p14:creationId xmlns:p14="http://schemas.microsoft.com/office/powerpoint/2010/main" val="340906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21</TotalTime>
  <Words>3</Words>
  <Application>Microsoft Office PowerPoint</Application>
  <PresentationFormat>Custom</PresentationFormat>
  <Paragraphs>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Corbel</vt:lpstr>
      <vt:lpstr>Digital Blue Tunnel 16x9</vt:lpstr>
      <vt:lpstr>Title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Vaghela</dc:creator>
  <cp:lastModifiedBy>Ankita Vaghela</cp:lastModifiedBy>
  <cp:revision>2</cp:revision>
  <dcterms:created xsi:type="dcterms:W3CDTF">2026-10-15T17:54:09Z</dcterms:created>
  <dcterms:modified xsi:type="dcterms:W3CDTF">2026-10-15T18:15:46Z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